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5835" autoAdjust="0"/>
  </p:normalViewPr>
  <p:slideViewPr>
    <p:cSldViewPr snapToGrid="0">
      <p:cViewPr>
        <p:scale>
          <a:sx n="150" d="100"/>
          <a:sy n="150" d="100"/>
        </p:scale>
        <p:origin x="-1284" y="-1348"/>
      </p:cViewPr>
      <p:guideLst/>
    </p:cSldViewPr>
  </p:slideViewPr>
  <p:notesTextViewPr>
    <p:cViewPr>
      <p:scale>
        <a:sx n="1" d="1"/>
        <a:sy n="1" d="1"/>
      </p:scale>
      <p:origin x="0" y="-132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2F863-918B-426C-A8C5-A2F52581ADC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F324B1-00EC-431F-9E71-6821CF42A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838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Box 2 – Remit to us</a:t>
            </a:r>
          </a:p>
          <a:p>
            <a:r>
              <a:rPr lang="en-US" dirty="0"/>
              <a:t>	* Check 835 for address. Is there a way to prescriptively see? Janice guesses 5 days.</a:t>
            </a:r>
          </a:p>
          <a:p>
            <a:r>
              <a:rPr lang="en-US" dirty="0"/>
              <a:t>Our 835 to IU can only reflect the ones posted to CUBS. So splice out the ones in CUBS</a:t>
            </a:r>
          </a:p>
          <a:p>
            <a:r>
              <a:rPr lang="en-US" dirty="0"/>
              <a:t>	* Timing: Wait </a:t>
            </a:r>
            <a:r>
              <a:rPr lang="en-US" b="1" dirty="0"/>
              <a:t>some</a:t>
            </a:r>
            <a:r>
              <a:rPr lang="en-US" b="0" dirty="0"/>
              <a:t> amount of time. </a:t>
            </a:r>
          </a:p>
          <a:p>
            <a:r>
              <a:rPr lang="en-US" b="0" dirty="0"/>
              <a:t>	* After this meeting, confirm to Janice that we can splice an 835.</a:t>
            </a:r>
          </a:p>
          <a:p>
            <a:endParaRPr lang="en-US" b="0" dirty="0"/>
          </a:p>
          <a:p>
            <a:r>
              <a:rPr lang="en-US" b="0" dirty="0"/>
              <a:t>68 </a:t>
            </a:r>
            <a:r>
              <a:rPr lang="en-US" b="0" dirty="0">
                <a:sym typeface="Wingdings" panose="05000000000000000000" pitchFamily="2" charset="2"/>
              </a:rPr>
              <a:t> 14 – confirm with examples</a:t>
            </a:r>
          </a:p>
          <a:p>
            <a:r>
              <a:rPr lang="en-US" dirty="0"/>
              <a:t>645 </a:t>
            </a:r>
            <a:r>
              <a:rPr lang="en-US" dirty="0">
                <a:sym typeface="Wingdings" panose="05000000000000000000" pitchFamily="2" charset="2"/>
              </a:rPr>
              <a:t> 580 – confirm with examples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324B1-00EC-431F-9E71-6821CF42A81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391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295D4-F7B0-2420-ACFD-C6FB3468C1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192919-1CA5-175C-F652-53DEFE2339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4C465-A987-E8A8-B1CF-C490BD5A6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6083B-EB12-4734-A6C5-FABADC2C9391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5116BD-FF77-EC20-B85D-4F1BA1279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FCCF7-63AD-7FA7-2E60-8655DFC92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BBCDD-7465-495A-A133-15A6564E10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621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A286D-B614-1D52-FF69-31FC19511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7440A-E29D-A880-55C1-06F689BC8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51A15-5715-8B2F-9DA2-C43122661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6083B-EB12-4734-A6C5-FABADC2C9391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2F262-CCD7-C265-9D08-765093537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03858-6401-EF04-6998-FD5FB6B47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BBCDD-7465-495A-A133-15A6564E10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827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E6B03-9126-0649-6518-D3857C344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8FD503-394D-370B-BF1F-6966CC92D8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7FBED-50BE-AE78-0391-66D7283FA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6083B-EB12-4734-A6C5-FABADC2C9391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F6750F-5379-363D-C334-DE98D9B9F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66B84F-966A-BD54-9C0F-3805453C9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BBCDD-7465-495A-A133-15A6564E10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08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5529D-9923-FE1F-33C0-B3E068367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A12DF-D10E-3DEF-E0D5-4F51BD1873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66FA2C-FA53-0198-9934-FC771501F3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20750F-D86D-E70F-AF48-D184AAE4E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6083B-EB12-4734-A6C5-FABADC2C9391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A44B08-3709-334B-38F2-E2E509480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EF0648-1AD3-28F7-5A02-66D2775C6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BBCDD-7465-495A-A133-15A6564E10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807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C0AB3-EDA3-23A3-625B-25B58AEE8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5C330A-EFC1-669E-CD7F-C1CE65A835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07BC0B-1787-7EDC-6CA9-BD475BEAD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7B9BF-F986-9E4B-9AF4-346B3C65E0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C1C8D4-EA5A-A7EF-BC3A-F4EF69B61C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AEE52A-029E-BAFF-C84E-938E7A97C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6083B-EB12-4734-A6C5-FABADC2C9391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326571-93C1-95D1-8859-27BF92B88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489861-9BC9-25B9-5B24-E812AB8C1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BBCDD-7465-495A-A133-15A6564E10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79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9D370-6289-F548-9AE6-A48A107CE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04FF99-43A1-EC51-41C0-FBF7FDADD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6083B-EB12-4734-A6C5-FABADC2C9391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F37685-1542-71E3-A4DF-07C233D83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13A6E5-EDF7-1560-953A-401D9D9BB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BBCDD-7465-495A-A133-15A6564E10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637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15AF7D-A799-B3C0-10F9-48B9DA286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6083B-EB12-4734-A6C5-FABADC2C9391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B3AB7E-978C-2C62-C297-12D585AD0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9923DA-D8D7-8549-3552-C9C0DB2E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BBCDD-7465-495A-A133-15A6564E10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571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2768B-9A66-366F-F3F0-25F6A00AF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F8FFA-B720-E802-E917-7BF7D3FAD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6A5304-C028-202F-CAB1-3768674644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F893FD-CDD3-EDDA-1DB7-7AAC691BB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6083B-EB12-4734-A6C5-FABADC2C9391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578848-8E97-176D-09D5-CF201C888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2CB6C-E419-94CB-6B90-F61D522DE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BBCDD-7465-495A-A133-15A6564E10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04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E077D-E879-202D-7E74-1091C67D5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BAE65F-40AF-442F-6E12-916F48AF0E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3173E3-86CC-3216-AF11-E000971400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06C46-77DA-6A52-D86D-92A08E1A1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6083B-EB12-4734-A6C5-FABADC2C9391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2FDBF-92B5-320F-660B-0A4C43284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7BE9E2-DD63-C2A7-0344-FFD682949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BBCDD-7465-495A-A133-15A6564E10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305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88A96-6B6A-37CC-0D25-E4FBF12EF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3384C6-2CC5-7855-F3FE-3559D653AB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F0CB6-B387-2CBE-0621-081845DDB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6083B-EB12-4734-A6C5-FABADC2C9391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51673-2292-FCD6-D11E-8D4A452F8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74C49-BBF9-DCC3-8130-E2EBE0DD3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BBCDD-7465-495A-A133-15A6564E10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972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3C6F91-6A09-DD22-EF52-EE9D510453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0C584-E91D-F3DB-0F5F-7DCCD77BCB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A9044-72B4-9621-E1ED-347C2FD0F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6083B-EB12-4734-A6C5-FABADC2C9391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52E20-1667-CF47-6575-1B4FA5CC4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FB6A9-A0AD-75B4-7C94-B8948F01C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BBCDD-7465-495A-A133-15A6564E10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27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3F880C-0E94-4DF2-719D-7BF1842C2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19395F-F575-0913-E467-9A7112EADE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BBA03-FAAE-001A-F149-6220FF4993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E6083B-EB12-4734-A6C5-FABADC2C9391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957199-3C2E-64A5-D947-44444DF6BE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A70AB-875D-4F39-8FE1-7F86A3879A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EBBCDD-7465-495A-A133-15A6564E10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943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0A7FB-C63B-D918-E2E8-3EFEC5CED5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235331-979B-221A-0055-A0E12C052B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772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DE5FC-EF9E-4519-CC64-4CCEFE5D5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Funnel Overview</a:t>
            </a:r>
            <a:endParaRPr lang="en-US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53168FF-9E85-1DA1-CCAE-B5410FE76C49}"/>
              </a:ext>
            </a:extLst>
          </p:cNvPr>
          <p:cNvGrpSpPr/>
          <p:nvPr/>
        </p:nvGrpSpPr>
        <p:grpSpPr>
          <a:xfrm>
            <a:off x="842286" y="2259417"/>
            <a:ext cx="1519032" cy="1175577"/>
            <a:chOff x="842286" y="2259417"/>
            <a:chExt cx="1519032" cy="1175577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0972597-10E7-97A7-6E7C-B84C66909DAD}"/>
                </a:ext>
              </a:extLst>
            </p:cNvPr>
            <p:cNvGrpSpPr/>
            <p:nvPr/>
          </p:nvGrpSpPr>
          <p:grpSpPr>
            <a:xfrm>
              <a:off x="842286" y="2775354"/>
              <a:ext cx="1519032" cy="659640"/>
              <a:chOff x="842286" y="3693244"/>
              <a:chExt cx="1519032" cy="659640"/>
            </a:xfrm>
          </p:grpSpPr>
          <p:sp>
            <p:nvSpPr>
              <p:cNvPr id="9" name="Arrow: Chevron 8">
                <a:extLst>
                  <a:ext uri="{FF2B5EF4-FFF2-40B4-BE49-F238E27FC236}">
                    <a16:creationId xmlns:a16="http://schemas.microsoft.com/office/drawing/2014/main" id="{3A3BFB4A-67B2-9DE1-51B7-92A527150CDD}"/>
                  </a:ext>
                </a:extLst>
              </p:cNvPr>
              <p:cNvSpPr/>
              <p:nvPr/>
            </p:nvSpPr>
            <p:spPr>
              <a:xfrm>
                <a:off x="842286" y="3693244"/>
                <a:ext cx="1367129" cy="527712"/>
              </a:xfrm>
              <a:prstGeom prst="chevron">
                <a:avLst>
                  <a:gd name="adj" fmla="val 40000"/>
                </a:avLst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F6CF0721-91DF-3525-B949-67ABAC99C99D}"/>
                  </a:ext>
                </a:extLst>
              </p:cNvPr>
              <p:cNvSpPr/>
              <p:nvPr/>
            </p:nvSpPr>
            <p:spPr>
              <a:xfrm>
                <a:off x="1206854" y="3825172"/>
                <a:ext cx="1154464" cy="527712"/>
              </a:xfrm>
              <a:custGeom>
                <a:avLst/>
                <a:gdLst>
                  <a:gd name="csX0" fmla="*/ 0 w 1154464"/>
                  <a:gd name="csY0" fmla="*/ 52771 h 527712"/>
                  <a:gd name="csX1" fmla="*/ 52771 w 1154464"/>
                  <a:gd name="csY1" fmla="*/ 0 h 527712"/>
                  <a:gd name="csX2" fmla="*/ 1101693 w 1154464"/>
                  <a:gd name="csY2" fmla="*/ 0 h 527712"/>
                  <a:gd name="csX3" fmla="*/ 1154464 w 1154464"/>
                  <a:gd name="csY3" fmla="*/ 52771 h 527712"/>
                  <a:gd name="csX4" fmla="*/ 1154464 w 1154464"/>
                  <a:gd name="csY4" fmla="*/ 474941 h 527712"/>
                  <a:gd name="csX5" fmla="*/ 1101693 w 1154464"/>
                  <a:gd name="csY5" fmla="*/ 527712 h 527712"/>
                  <a:gd name="csX6" fmla="*/ 52771 w 1154464"/>
                  <a:gd name="csY6" fmla="*/ 527712 h 527712"/>
                  <a:gd name="csX7" fmla="*/ 0 w 1154464"/>
                  <a:gd name="csY7" fmla="*/ 474941 h 527712"/>
                  <a:gd name="csX8" fmla="*/ 0 w 1154464"/>
                  <a:gd name="csY8" fmla="*/ 52771 h 52771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154464" h="527712">
                    <a:moveTo>
                      <a:pt x="0" y="52771"/>
                    </a:moveTo>
                    <a:cubicBezTo>
                      <a:pt x="0" y="23626"/>
                      <a:pt x="23626" y="0"/>
                      <a:pt x="52771" y="0"/>
                    </a:cubicBezTo>
                    <a:lnTo>
                      <a:pt x="1101693" y="0"/>
                    </a:lnTo>
                    <a:cubicBezTo>
                      <a:pt x="1130838" y="0"/>
                      <a:pt x="1154464" y="23626"/>
                      <a:pt x="1154464" y="52771"/>
                    </a:cubicBezTo>
                    <a:lnTo>
                      <a:pt x="1154464" y="474941"/>
                    </a:lnTo>
                    <a:cubicBezTo>
                      <a:pt x="1154464" y="504086"/>
                      <a:pt x="1130838" y="527712"/>
                      <a:pt x="1101693" y="527712"/>
                    </a:cubicBezTo>
                    <a:lnTo>
                      <a:pt x="52771" y="527712"/>
                    </a:lnTo>
                    <a:cubicBezTo>
                      <a:pt x="23626" y="527712"/>
                      <a:pt x="0" y="504086"/>
                      <a:pt x="0" y="474941"/>
                    </a:cubicBezTo>
                    <a:lnTo>
                      <a:pt x="0" y="52771"/>
                    </a:lnTo>
                    <a:close/>
                  </a:path>
                </a:pathLst>
              </a:custGeom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3688" tIns="93688" rIns="93688" bIns="93688" numCol="1" spcCol="1270" anchor="ctr" anchorCtr="0">
                <a:noAutofit/>
              </a:bodyPr>
              <a:lstStyle/>
              <a:p>
                <a:pPr marL="0" lvl="0" indent="0" algn="ctr" defTabSz="4889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100" kern="1200" dirty="0"/>
                  <a:t>837 - Submit</a:t>
                </a: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6EF92D0-687A-E760-1E8D-731DE6CE2F2B}"/>
                </a:ext>
              </a:extLst>
            </p:cNvPr>
            <p:cNvSpPr txBox="1"/>
            <p:nvPr/>
          </p:nvSpPr>
          <p:spPr>
            <a:xfrm>
              <a:off x="1144602" y="2259417"/>
              <a:ext cx="914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dirty="0"/>
                <a:t>645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5197376-6D5C-E8E4-5A50-F3781B1C8244}"/>
              </a:ext>
            </a:extLst>
          </p:cNvPr>
          <p:cNvGrpSpPr/>
          <p:nvPr/>
        </p:nvGrpSpPr>
        <p:grpSpPr>
          <a:xfrm>
            <a:off x="2403852" y="2555524"/>
            <a:ext cx="1519031" cy="1175577"/>
            <a:chOff x="2403852" y="2555524"/>
            <a:chExt cx="1519031" cy="1175577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2C1EA9C-6194-01FB-334E-94CE9C5D4C8B}"/>
                </a:ext>
              </a:extLst>
            </p:cNvPr>
            <p:cNvGrpSpPr/>
            <p:nvPr/>
          </p:nvGrpSpPr>
          <p:grpSpPr>
            <a:xfrm>
              <a:off x="2403852" y="3071461"/>
              <a:ext cx="1519031" cy="659640"/>
              <a:chOff x="2403852" y="3693244"/>
              <a:chExt cx="1519031" cy="659640"/>
            </a:xfrm>
          </p:grpSpPr>
          <p:sp>
            <p:nvSpPr>
              <p:cNvPr id="11" name="Arrow: Chevron 10">
                <a:extLst>
                  <a:ext uri="{FF2B5EF4-FFF2-40B4-BE49-F238E27FC236}">
                    <a16:creationId xmlns:a16="http://schemas.microsoft.com/office/drawing/2014/main" id="{F587383D-C72E-FAD7-9656-BE134BACE33F}"/>
                  </a:ext>
                </a:extLst>
              </p:cNvPr>
              <p:cNvSpPr/>
              <p:nvPr/>
            </p:nvSpPr>
            <p:spPr>
              <a:xfrm>
                <a:off x="2403852" y="3693244"/>
                <a:ext cx="1367129" cy="527712"/>
              </a:xfrm>
              <a:prstGeom prst="chevron">
                <a:avLst>
                  <a:gd name="adj" fmla="val 40000"/>
                </a:avLst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1AFBFC8F-CAE0-AD0F-B63E-5203412763A4}"/>
                  </a:ext>
                </a:extLst>
              </p:cNvPr>
              <p:cNvSpPr/>
              <p:nvPr/>
            </p:nvSpPr>
            <p:spPr>
              <a:xfrm>
                <a:off x="2768419" y="3825172"/>
                <a:ext cx="1154464" cy="527712"/>
              </a:xfrm>
              <a:custGeom>
                <a:avLst/>
                <a:gdLst>
                  <a:gd name="csX0" fmla="*/ 0 w 1154464"/>
                  <a:gd name="csY0" fmla="*/ 52771 h 527712"/>
                  <a:gd name="csX1" fmla="*/ 52771 w 1154464"/>
                  <a:gd name="csY1" fmla="*/ 0 h 527712"/>
                  <a:gd name="csX2" fmla="*/ 1101693 w 1154464"/>
                  <a:gd name="csY2" fmla="*/ 0 h 527712"/>
                  <a:gd name="csX3" fmla="*/ 1154464 w 1154464"/>
                  <a:gd name="csY3" fmla="*/ 52771 h 527712"/>
                  <a:gd name="csX4" fmla="*/ 1154464 w 1154464"/>
                  <a:gd name="csY4" fmla="*/ 474941 h 527712"/>
                  <a:gd name="csX5" fmla="*/ 1101693 w 1154464"/>
                  <a:gd name="csY5" fmla="*/ 527712 h 527712"/>
                  <a:gd name="csX6" fmla="*/ 52771 w 1154464"/>
                  <a:gd name="csY6" fmla="*/ 527712 h 527712"/>
                  <a:gd name="csX7" fmla="*/ 0 w 1154464"/>
                  <a:gd name="csY7" fmla="*/ 474941 h 527712"/>
                  <a:gd name="csX8" fmla="*/ 0 w 1154464"/>
                  <a:gd name="csY8" fmla="*/ 52771 h 52771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154464" h="527712">
                    <a:moveTo>
                      <a:pt x="0" y="52771"/>
                    </a:moveTo>
                    <a:cubicBezTo>
                      <a:pt x="0" y="23626"/>
                      <a:pt x="23626" y="0"/>
                      <a:pt x="52771" y="0"/>
                    </a:cubicBezTo>
                    <a:lnTo>
                      <a:pt x="1101693" y="0"/>
                    </a:lnTo>
                    <a:cubicBezTo>
                      <a:pt x="1130838" y="0"/>
                      <a:pt x="1154464" y="23626"/>
                      <a:pt x="1154464" y="52771"/>
                    </a:cubicBezTo>
                    <a:lnTo>
                      <a:pt x="1154464" y="474941"/>
                    </a:lnTo>
                    <a:cubicBezTo>
                      <a:pt x="1154464" y="504086"/>
                      <a:pt x="1130838" y="527712"/>
                      <a:pt x="1101693" y="527712"/>
                    </a:cubicBezTo>
                    <a:lnTo>
                      <a:pt x="52771" y="527712"/>
                    </a:lnTo>
                    <a:cubicBezTo>
                      <a:pt x="23626" y="527712"/>
                      <a:pt x="0" y="504086"/>
                      <a:pt x="0" y="474941"/>
                    </a:cubicBezTo>
                    <a:lnTo>
                      <a:pt x="0" y="52771"/>
                    </a:lnTo>
                    <a:close/>
                  </a:path>
                </a:pathLst>
              </a:custGeom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3688" tIns="93688" rIns="93688" bIns="93688" numCol="1" spcCol="1270" anchor="ctr" anchorCtr="0">
                <a:noAutofit/>
              </a:bodyPr>
              <a:lstStyle/>
              <a:p>
                <a:pPr marL="0" lvl="0" indent="0" algn="ctr" defTabSz="4889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100" kern="1200" dirty="0"/>
                  <a:t>277 - Response</a:t>
                </a:r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A5706E7-0968-15D8-CF0D-E5BF0C2DB9F4}"/>
                </a:ext>
              </a:extLst>
            </p:cNvPr>
            <p:cNvSpPr txBox="1"/>
            <p:nvPr/>
          </p:nvSpPr>
          <p:spPr>
            <a:xfrm>
              <a:off x="2704191" y="2555524"/>
              <a:ext cx="914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dirty="0"/>
                <a:t>585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9365ACF-B506-FCC1-CF70-CEE735D33AA9}"/>
              </a:ext>
            </a:extLst>
          </p:cNvPr>
          <p:cNvGrpSpPr/>
          <p:nvPr/>
        </p:nvGrpSpPr>
        <p:grpSpPr>
          <a:xfrm>
            <a:off x="3965417" y="2851631"/>
            <a:ext cx="1519032" cy="1175577"/>
            <a:chOff x="3965417" y="2851631"/>
            <a:chExt cx="1519032" cy="1175577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7E8242AD-6EA0-C413-7856-8549ACA23B12}"/>
                </a:ext>
              </a:extLst>
            </p:cNvPr>
            <p:cNvGrpSpPr/>
            <p:nvPr/>
          </p:nvGrpSpPr>
          <p:grpSpPr>
            <a:xfrm>
              <a:off x="3965417" y="3367568"/>
              <a:ext cx="1519032" cy="659640"/>
              <a:chOff x="3965417" y="3693244"/>
              <a:chExt cx="1519032" cy="659640"/>
            </a:xfrm>
          </p:grpSpPr>
          <p:sp>
            <p:nvSpPr>
              <p:cNvPr id="13" name="Arrow: Chevron 12">
                <a:extLst>
                  <a:ext uri="{FF2B5EF4-FFF2-40B4-BE49-F238E27FC236}">
                    <a16:creationId xmlns:a16="http://schemas.microsoft.com/office/drawing/2014/main" id="{35F2CF1D-AD69-449F-71FE-77FEC2D251BB}"/>
                  </a:ext>
                </a:extLst>
              </p:cNvPr>
              <p:cNvSpPr/>
              <p:nvPr/>
            </p:nvSpPr>
            <p:spPr>
              <a:xfrm>
                <a:off x="3965417" y="3693244"/>
                <a:ext cx="1367129" cy="527712"/>
              </a:xfrm>
              <a:prstGeom prst="chevron">
                <a:avLst>
                  <a:gd name="adj" fmla="val 40000"/>
                </a:avLst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3F130D61-4A50-9D90-B880-1E65FD8A0FBF}"/>
                  </a:ext>
                </a:extLst>
              </p:cNvPr>
              <p:cNvSpPr/>
              <p:nvPr/>
            </p:nvSpPr>
            <p:spPr>
              <a:xfrm>
                <a:off x="4329985" y="3825172"/>
                <a:ext cx="1154464" cy="527712"/>
              </a:xfrm>
              <a:custGeom>
                <a:avLst/>
                <a:gdLst>
                  <a:gd name="csX0" fmla="*/ 0 w 1154464"/>
                  <a:gd name="csY0" fmla="*/ 52771 h 527712"/>
                  <a:gd name="csX1" fmla="*/ 52771 w 1154464"/>
                  <a:gd name="csY1" fmla="*/ 0 h 527712"/>
                  <a:gd name="csX2" fmla="*/ 1101693 w 1154464"/>
                  <a:gd name="csY2" fmla="*/ 0 h 527712"/>
                  <a:gd name="csX3" fmla="*/ 1154464 w 1154464"/>
                  <a:gd name="csY3" fmla="*/ 52771 h 527712"/>
                  <a:gd name="csX4" fmla="*/ 1154464 w 1154464"/>
                  <a:gd name="csY4" fmla="*/ 474941 h 527712"/>
                  <a:gd name="csX5" fmla="*/ 1101693 w 1154464"/>
                  <a:gd name="csY5" fmla="*/ 527712 h 527712"/>
                  <a:gd name="csX6" fmla="*/ 52771 w 1154464"/>
                  <a:gd name="csY6" fmla="*/ 527712 h 527712"/>
                  <a:gd name="csX7" fmla="*/ 0 w 1154464"/>
                  <a:gd name="csY7" fmla="*/ 474941 h 527712"/>
                  <a:gd name="csX8" fmla="*/ 0 w 1154464"/>
                  <a:gd name="csY8" fmla="*/ 52771 h 52771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154464" h="527712">
                    <a:moveTo>
                      <a:pt x="0" y="52771"/>
                    </a:moveTo>
                    <a:cubicBezTo>
                      <a:pt x="0" y="23626"/>
                      <a:pt x="23626" y="0"/>
                      <a:pt x="52771" y="0"/>
                    </a:cubicBezTo>
                    <a:lnTo>
                      <a:pt x="1101693" y="0"/>
                    </a:lnTo>
                    <a:cubicBezTo>
                      <a:pt x="1130838" y="0"/>
                      <a:pt x="1154464" y="23626"/>
                      <a:pt x="1154464" y="52771"/>
                    </a:cubicBezTo>
                    <a:lnTo>
                      <a:pt x="1154464" y="474941"/>
                    </a:lnTo>
                    <a:cubicBezTo>
                      <a:pt x="1154464" y="504086"/>
                      <a:pt x="1130838" y="527712"/>
                      <a:pt x="1101693" y="527712"/>
                    </a:cubicBezTo>
                    <a:lnTo>
                      <a:pt x="52771" y="527712"/>
                    </a:lnTo>
                    <a:cubicBezTo>
                      <a:pt x="23626" y="527712"/>
                      <a:pt x="0" y="504086"/>
                      <a:pt x="0" y="474941"/>
                    </a:cubicBezTo>
                    <a:lnTo>
                      <a:pt x="0" y="52771"/>
                    </a:lnTo>
                    <a:close/>
                  </a:path>
                </a:pathLst>
              </a:custGeom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3688" tIns="93688" rIns="93688" bIns="93688" numCol="1" spcCol="1270" anchor="ctr" anchorCtr="0">
                <a:noAutofit/>
              </a:bodyPr>
              <a:lstStyle/>
              <a:p>
                <a:pPr marL="0" lvl="0" indent="0" algn="ctr" defTabSz="4889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100" kern="1200" dirty="0"/>
                  <a:t>277 - Accept</a:t>
                </a: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493F966-654C-31A7-B24A-69741A2D7969}"/>
                </a:ext>
              </a:extLst>
            </p:cNvPr>
            <p:cNvSpPr txBox="1"/>
            <p:nvPr/>
          </p:nvSpPr>
          <p:spPr>
            <a:xfrm>
              <a:off x="4267733" y="2851631"/>
              <a:ext cx="914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dirty="0"/>
                <a:t>580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9FFB8DF-864B-2811-3D07-76048CD7D1E6}"/>
              </a:ext>
            </a:extLst>
          </p:cNvPr>
          <p:cNvGrpSpPr/>
          <p:nvPr/>
        </p:nvGrpSpPr>
        <p:grpSpPr>
          <a:xfrm>
            <a:off x="5526983" y="3147738"/>
            <a:ext cx="1519032" cy="1175577"/>
            <a:chOff x="5526983" y="3147738"/>
            <a:chExt cx="1519032" cy="1175577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D5F3C5C5-A41F-ECE4-0D03-C434EB9F38B8}"/>
                </a:ext>
              </a:extLst>
            </p:cNvPr>
            <p:cNvGrpSpPr/>
            <p:nvPr/>
          </p:nvGrpSpPr>
          <p:grpSpPr>
            <a:xfrm>
              <a:off x="5526983" y="3663675"/>
              <a:ext cx="1519032" cy="659640"/>
              <a:chOff x="5526983" y="3693244"/>
              <a:chExt cx="1519032" cy="659640"/>
            </a:xfrm>
          </p:grpSpPr>
          <p:sp>
            <p:nvSpPr>
              <p:cNvPr id="15" name="Arrow: Chevron 14">
                <a:extLst>
                  <a:ext uri="{FF2B5EF4-FFF2-40B4-BE49-F238E27FC236}">
                    <a16:creationId xmlns:a16="http://schemas.microsoft.com/office/drawing/2014/main" id="{C4048CAC-D2E7-CBF9-58AF-A4A58D92FDB9}"/>
                  </a:ext>
                </a:extLst>
              </p:cNvPr>
              <p:cNvSpPr/>
              <p:nvPr/>
            </p:nvSpPr>
            <p:spPr>
              <a:xfrm>
                <a:off x="5526983" y="3693244"/>
                <a:ext cx="1367129" cy="527712"/>
              </a:xfrm>
              <a:prstGeom prst="chevron">
                <a:avLst>
                  <a:gd name="adj" fmla="val 40000"/>
                </a:avLst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16D3BD5B-8E9C-965A-950F-0F0D11CAA712}"/>
                  </a:ext>
                </a:extLst>
              </p:cNvPr>
              <p:cNvSpPr/>
              <p:nvPr/>
            </p:nvSpPr>
            <p:spPr>
              <a:xfrm>
                <a:off x="5891551" y="3825172"/>
                <a:ext cx="1154464" cy="527712"/>
              </a:xfrm>
              <a:custGeom>
                <a:avLst/>
                <a:gdLst>
                  <a:gd name="csX0" fmla="*/ 0 w 1154464"/>
                  <a:gd name="csY0" fmla="*/ 52771 h 527712"/>
                  <a:gd name="csX1" fmla="*/ 52771 w 1154464"/>
                  <a:gd name="csY1" fmla="*/ 0 h 527712"/>
                  <a:gd name="csX2" fmla="*/ 1101693 w 1154464"/>
                  <a:gd name="csY2" fmla="*/ 0 h 527712"/>
                  <a:gd name="csX3" fmla="*/ 1154464 w 1154464"/>
                  <a:gd name="csY3" fmla="*/ 52771 h 527712"/>
                  <a:gd name="csX4" fmla="*/ 1154464 w 1154464"/>
                  <a:gd name="csY4" fmla="*/ 474941 h 527712"/>
                  <a:gd name="csX5" fmla="*/ 1101693 w 1154464"/>
                  <a:gd name="csY5" fmla="*/ 527712 h 527712"/>
                  <a:gd name="csX6" fmla="*/ 52771 w 1154464"/>
                  <a:gd name="csY6" fmla="*/ 527712 h 527712"/>
                  <a:gd name="csX7" fmla="*/ 0 w 1154464"/>
                  <a:gd name="csY7" fmla="*/ 474941 h 527712"/>
                  <a:gd name="csX8" fmla="*/ 0 w 1154464"/>
                  <a:gd name="csY8" fmla="*/ 52771 h 52771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154464" h="527712">
                    <a:moveTo>
                      <a:pt x="0" y="52771"/>
                    </a:moveTo>
                    <a:cubicBezTo>
                      <a:pt x="0" y="23626"/>
                      <a:pt x="23626" y="0"/>
                      <a:pt x="52771" y="0"/>
                    </a:cubicBezTo>
                    <a:lnTo>
                      <a:pt x="1101693" y="0"/>
                    </a:lnTo>
                    <a:cubicBezTo>
                      <a:pt x="1130838" y="0"/>
                      <a:pt x="1154464" y="23626"/>
                      <a:pt x="1154464" y="52771"/>
                    </a:cubicBezTo>
                    <a:lnTo>
                      <a:pt x="1154464" y="474941"/>
                    </a:lnTo>
                    <a:cubicBezTo>
                      <a:pt x="1154464" y="504086"/>
                      <a:pt x="1130838" y="527712"/>
                      <a:pt x="1101693" y="527712"/>
                    </a:cubicBezTo>
                    <a:lnTo>
                      <a:pt x="52771" y="527712"/>
                    </a:lnTo>
                    <a:cubicBezTo>
                      <a:pt x="23626" y="527712"/>
                      <a:pt x="0" y="504086"/>
                      <a:pt x="0" y="474941"/>
                    </a:cubicBezTo>
                    <a:lnTo>
                      <a:pt x="0" y="52771"/>
                    </a:lnTo>
                    <a:close/>
                  </a:path>
                </a:pathLst>
              </a:custGeom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3688" tIns="93688" rIns="93688" bIns="93688" numCol="1" spcCol="1270" anchor="ctr" anchorCtr="0">
                <a:noAutofit/>
              </a:bodyPr>
              <a:lstStyle/>
              <a:p>
                <a:pPr marL="0" lvl="0" indent="0" algn="ctr" defTabSz="4889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100" kern="1200" dirty="0"/>
                  <a:t>835 – Remit (Adjudication)</a:t>
                </a: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31360E2-0A76-3548-846A-2F35982FB39B}"/>
                </a:ext>
              </a:extLst>
            </p:cNvPr>
            <p:cNvSpPr txBox="1"/>
            <p:nvPr/>
          </p:nvSpPr>
          <p:spPr>
            <a:xfrm>
              <a:off x="5829299" y="3147738"/>
              <a:ext cx="914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u="sng" dirty="0">
                  <a:solidFill>
                    <a:schemeClr val="accent1"/>
                  </a:solidFill>
                </a:rPr>
                <a:t>72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7A7212C-6F7F-6E10-22D0-178C37EF10C3}"/>
              </a:ext>
            </a:extLst>
          </p:cNvPr>
          <p:cNvGrpSpPr/>
          <p:nvPr/>
        </p:nvGrpSpPr>
        <p:grpSpPr>
          <a:xfrm>
            <a:off x="7088549" y="3443845"/>
            <a:ext cx="1519032" cy="1175577"/>
            <a:chOff x="7088549" y="3443845"/>
            <a:chExt cx="1519032" cy="1175577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E0984623-02BC-7985-0C8A-4EEDAAEB227F}"/>
                </a:ext>
              </a:extLst>
            </p:cNvPr>
            <p:cNvGrpSpPr/>
            <p:nvPr/>
          </p:nvGrpSpPr>
          <p:grpSpPr>
            <a:xfrm>
              <a:off x="7088549" y="3959782"/>
              <a:ext cx="1519032" cy="659640"/>
              <a:chOff x="7088549" y="3693244"/>
              <a:chExt cx="1519032" cy="659640"/>
            </a:xfrm>
          </p:grpSpPr>
          <p:sp>
            <p:nvSpPr>
              <p:cNvPr id="17" name="Arrow: Chevron 16">
                <a:extLst>
                  <a:ext uri="{FF2B5EF4-FFF2-40B4-BE49-F238E27FC236}">
                    <a16:creationId xmlns:a16="http://schemas.microsoft.com/office/drawing/2014/main" id="{8EB715A3-3B9B-155E-F08E-4E963C5CE10D}"/>
                  </a:ext>
                </a:extLst>
              </p:cNvPr>
              <p:cNvSpPr/>
              <p:nvPr/>
            </p:nvSpPr>
            <p:spPr>
              <a:xfrm>
                <a:off x="7088549" y="3693244"/>
                <a:ext cx="1367129" cy="527712"/>
              </a:xfrm>
              <a:prstGeom prst="chevron">
                <a:avLst>
                  <a:gd name="adj" fmla="val 40000"/>
                </a:avLst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57555894-02AF-6270-DC2E-5A00940B2B76}"/>
                  </a:ext>
                </a:extLst>
              </p:cNvPr>
              <p:cNvSpPr/>
              <p:nvPr/>
            </p:nvSpPr>
            <p:spPr>
              <a:xfrm>
                <a:off x="7453117" y="3825172"/>
                <a:ext cx="1154464" cy="527712"/>
              </a:xfrm>
              <a:custGeom>
                <a:avLst/>
                <a:gdLst>
                  <a:gd name="csX0" fmla="*/ 0 w 1154464"/>
                  <a:gd name="csY0" fmla="*/ 52771 h 527712"/>
                  <a:gd name="csX1" fmla="*/ 52771 w 1154464"/>
                  <a:gd name="csY1" fmla="*/ 0 h 527712"/>
                  <a:gd name="csX2" fmla="*/ 1101693 w 1154464"/>
                  <a:gd name="csY2" fmla="*/ 0 h 527712"/>
                  <a:gd name="csX3" fmla="*/ 1154464 w 1154464"/>
                  <a:gd name="csY3" fmla="*/ 52771 h 527712"/>
                  <a:gd name="csX4" fmla="*/ 1154464 w 1154464"/>
                  <a:gd name="csY4" fmla="*/ 474941 h 527712"/>
                  <a:gd name="csX5" fmla="*/ 1101693 w 1154464"/>
                  <a:gd name="csY5" fmla="*/ 527712 h 527712"/>
                  <a:gd name="csX6" fmla="*/ 52771 w 1154464"/>
                  <a:gd name="csY6" fmla="*/ 527712 h 527712"/>
                  <a:gd name="csX7" fmla="*/ 0 w 1154464"/>
                  <a:gd name="csY7" fmla="*/ 474941 h 527712"/>
                  <a:gd name="csX8" fmla="*/ 0 w 1154464"/>
                  <a:gd name="csY8" fmla="*/ 52771 h 52771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154464" h="527712">
                    <a:moveTo>
                      <a:pt x="0" y="52771"/>
                    </a:moveTo>
                    <a:cubicBezTo>
                      <a:pt x="0" y="23626"/>
                      <a:pt x="23626" y="0"/>
                      <a:pt x="52771" y="0"/>
                    </a:cubicBezTo>
                    <a:lnTo>
                      <a:pt x="1101693" y="0"/>
                    </a:lnTo>
                    <a:cubicBezTo>
                      <a:pt x="1130838" y="0"/>
                      <a:pt x="1154464" y="23626"/>
                      <a:pt x="1154464" y="52771"/>
                    </a:cubicBezTo>
                    <a:lnTo>
                      <a:pt x="1154464" y="474941"/>
                    </a:lnTo>
                    <a:cubicBezTo>
                      <a:pt x="1154464" y="504086"/>
                      <a:pt x="1130838" y="527712"/>
                      <a:pt x="1101693" y="527712"/>
                    </a:cubicBezTo>
                    <a:lnTo>
                      <a:pt x="52771" y="527712"/>
                    </a:lnTo>
                    <a:cubicBezTo>
                      <a:pt x="23626" y="527712"/>
                      <a:pt x="0" y="504086"/>
                      <a:pt x="0" y="474941"/>
                    </a:cubicBezTo>
                    <a:lnTo>
                      <a:pt x="0" y="52771"/>
                    </a:lnTo>
                    <a:close/>
                  </a:path>
                </a:pathLst>
              </a:custGeom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3688" tIns="93688" rIns="93688" bIns="93688" numCol="1" spcCol="1270" anchor="ctr" anchorCtr="0">
                <a:noAutofit/>
              </a:bodyPr>
              <a:lstStyle/>
              <a:p>
                <a:pPr marL="0" lvl="0" indent="0" algn="ctr" defTabSz="4889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100" kern="1200" dirty="0"/>
                  <a:t>835 – Processed</a:t>
                </a:r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BD8C479-770F-762F-E29D-97AC33D69358}"/>
                </a:ext>
              </a:extLst>
            </p:cNvPr>
            <p:cNvSpPr txBox="1"/>
            <p:nvPr/>
          </p:nvSpPr>
          <p:spPr>
            <a:xfrm>
              <a:off x="7390865" y="3443845"/>
              <a:ext cx="914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dirty="0"/>
                <a:t>68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C82F379-EF51-4628-8D78-672E9CF634C4}"/>
              </a:ext>
            </a:extLst>
          </p:cNvPr>
          <p:cNvGrpSpPr/>
          <p:nvPr/>
        </p:nvGrpSpPr>
        <p:grpSpPr>
          <a:xfrm>
            <a:off x="8650115" y="3739952"/>
            <a:ext cx="1519032" cy="1175577"/>
            <a:chOff x="8650115" y="3739952"/>
            <a:chExt cx="1519032" cy="1175577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01A1D0A2-B005-07A2-D563-58AEF9686FBA}"/>
                </a:ext>
              </a:extLst>
            </p:cNvPr>
            <p:cNvGrpSpPr/>
            <p:nvPr/>
          </p:nvGrpSpPr>
          <p:grpSpPr>
            <a:xfrm>
              <a:off x="8650115" y="4255889"/>
              <a:ext cx="1519032" cy="659640"/>
              <a:chOff x="8650115" y="3693244"/>
              <a:chExt cx="1519032" cy="659640"/>
            </a:xfrm>
          </p:grpSpPr>
          <p:sp>
            <p:nvSpPr>
              <p:cNvPr id="19" name="Arrow: Chevron 18">
                <a:extLst>
                  <a:ext uri="{FF2B5EF4-FFF2-40B4-BE49-F238E27FC236}">
                    <a16:creationId xmlns:a16="http://schemas.microsoft.com/office/drawing/2014/main" id="{75F2A1FD-018E-677A-BE90-D7C8BCCF2CEC}"/>
                  </a:ext>
                </a:extLst>
              </p:cNvPr>
              <p:cNvSpPr/>
              <p:nvPr/>
            </p:nvSpPr>
            <p:spPr>
              <a:xfrm>
                <a:off x="8650115" y="3693244"/>
                <a:ext cx="1367129" cy="527712"/>
              </a:xfrm>
              <a:prstGeom prst="chevron">
                <a:avLst>
                  <a:gd name="adj" fmla="val 40000"/>
                </a:avLst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3A439AD-DA32-AAC6-4F71-FF023067F06E}"/>
                  </a:ext>
                </a:extLst>
              </p:cNvPr>
              <p:cNvSpPr/>
              <p:nvPr/>
            </p:nvSpPr>
            <p:spPr>
              <a:xfrm>
                <a:off x="9014683" y="3825172"/>
                <a:ext cx="1154464" cy="527712"/>
              </a:xfrm>
              <a:custGeom>
                <a:avLst/>
                <a:gdLst>
                  <a:gd name="csX0" fmla="*/ 0 w 1154464"/>
                  <a:gd name="csY0" fmla="*/ 52771 h 527712"/>
                  <a:gd name="csX1" fmla="*/ 52771 w 1154464"/>
                  <a:gd name="csY1" fmla="*/ 0 h 527712"/>
                  <a:gd name="csX2" fmla="*/ 1101693 w 1154464"/>
                  <a:gd name="csY2" fmla="*/ 0 h 527712"/>
                  <a:gd name="csX3" fmla="*/ 1154464 w 1154464"/>
                  <a:gd name="csY3" fmla="*/ 52771 h 527712"/>
                  <a:gd name="csX4" fmla="*/ 1154464 w 1154464"/>
                  <a:gd name="csY4" fmla="*/ 474941 h 527712"/>
                  <a:gd name="csX5" fmla="*/ 1101693 w 1154464"/>
                  <a:gd name="csY5" fmla="*/ 527712 h 527712"/>
                  <a:gd name="csX6" fmla="*/ 52771 w 1154464"/>
                  <a:gd name="csY6" fmla="*/ 527712 h 527712"/>
                  <a:gd name="csX7" fmla="*/ 0 w 1154464"/>
                  <a:gd name="csY7" fmla="*/ 474941 h 527712"/>
                  <a:gd name="csX8" fmla="*/ 0 w 1154464"/>
                  <a:gd name="csY8" fmla="*/ 52771 h 52771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154464" h="527712">
                    <a:moveTo>
                      <a:pt x="0" y="52771"/>
                    </a:moveTo>
                    <a:cubicBezTo>
                      <a:pt x="0" y="23626"/>
                      <a:pt x="23626" y="0"/>
                      <a:pt x="52771" y="0"/>
                    </a:cubicBezTo>
                    <a:lnTo>
                      <a:pt x="1101693" y="0"/>
                    </a:lnTo>
                    <a:cubicBezTo>
                      <a:pt x="1130838" y="0"/>
                      <a:pt x="1154464" y="23626"/>
                      <a:pt x="1154464" y="52771"/>
                    </a:cubicBezTo>
                    <a:lnTo>
                      <a:pt x="1154464" y="474941"/>
                    </a:lnTo>
                    <a:cubicBezTo>
                      <a:pt x="1154464" y="504086"/>
                      <a:pt x="1130838" y="527712"/>
                      <a:pt x="1101693" y="527712"/>
                    </a:cubicBezTo>
                    <a:lnTo>
                      <a:pt x="52771" y="527712"/>
                    </a:lnTo>
                    <a:cubicBezTo>
                      <a:pt x="23626" y="527712"/>
                      <a:pt x="0" y="504086"/>
                      <a:pt x="0" y="474941"/>
                    </a:cubicBezTo>
                    <a:lnTo>
                      <a:pt x="0" y="52771"/>
                    </a:lnTo>
                    <a:close/>
                  </a:path>
                </a:pathLst>
              </a:custGeom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3688" tIns="93688" rIns="93688" bIns="93688" numCol="1" spcCol="1270" anchor="ctr" anchorCtr="0">
                <a:noAutofit/>
              </a:bodyPr>
              <a:lstStyle/>
              <a:p>
                <a:pPr marL="0" lvl="0" indent="0" algn="ctr" defTabSz="4889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100" kern="1200" dirty="0"/>
                  <a:t>835 – Paid</a:t>
                </a:r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9151968-F44C-B1D2-071F-1DDB99E592A3}"/>
                </a:ext>
              </a:extLst>
            </p:cNvPr>
            <p:cNvSpPr txBox="1"/>
            <p:nvPr/>
          </p:nvSpPr>
          <p:spPr>
            <a:xfrm>
              <a:off x="8952431" y="3739952"/>
              <a:ext cx="914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u="sng" dirty="0">
                  <a:solidFill>
                    <a:srgbClr val="C00000"/>
                  </a:solidFill>
                </a:rPr>
                <a:t>14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7A07DF5-DD76-0D0D-56CB-5DB2B052B80D}"/>
              </a:ext>
            </a:extLst>
          </p:cNvPr>
          <p:cNvGrpSpPr/>
          <p:nvPr/>
        </p:nvGrpSpPr>
        <p:grpSpPr>
          <a:xfrm>
            <a:off x="10211680" y="4036060"/>
            <a:ext cx="1519032" cy="1175577"/>
            <a:chOff x="10211680" y="4036060"/>
            <a:chExt cx="1519032" cy="1175577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D8341130-E86C-01AF-82A8-B82C23B01DC4}"/>
                </a:ext>
              </a:extLst>
            </p:cNvPr>
            <p:cNvGrpSpPr/>
            <p:nvPr/>
          </p:nvGrpSpPr>
          <p:grpSpPr>
            <a:xfrm>
              <a:off x="10211680" y="4551997"/>
              <a:ext cx="1519032" cy="659640"/>
              <a:chOff x="10211680" y="3693244"/>
              <a:chExt cx="1519032" cy="659640"/>
            </a:xfrm>
          </p:grpSpPr>
          <p:sp>
            <p:nvSpPr>
              <p:cNvPr id="21" name="Arrow: Chevron 20">
                <a:extLst>
                  <a:ext uri="{FF2B5EF4-FFF2-40B4-BE49-F238E27FC236}">
                    <a16:creationId xmlns:a16="http://schemas.microsoft.com/office/drawing/2014/main" id="{C6C043D1-13A3-4E19-F56C-A1762CDB3628}"/>
                  </a:ext>
                </a:extLst>
              </p:cNvPr>
              <p:cNvSpPr/>
              <p:nvPr/>
            </p:nvSpPr>
            <p:spPr>
              <a:xfrm>
                <a:off x="10211680" y="3693244"/>
                <a:ext cx="1367129" cy="527712"/>
              </a:xfrm>
              <a:prstGeom prst="chevron">
                <a:avLst>
                  <a:gd name="adj" fmla="val 40000"/>
                </a:avLst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A55FD04-6C2D-E27D-A26C-9150DC3EF2DE}"/>
                  </a:ext>
                </a:extLst>
              </p:cNvPr>
              <p:cNvSpPr/>
              <p:nvPr/>
            </p:nvSpPr>
            <p:spPr>
              <a:xfrm>
                <a:off x="10576248" y="3825172"/>
                <a:ext cx="1154464" cy="527712"/>
              </a:xfrm>
              <a:custGeom>
                <a:avLst/>
                <a:gdLst>
                  <a:gd name="csX0" fmla="*/ 0 w 1154464"/>
                  <a:gd name="csY0" fmla="*/ 52771 h 527712"/>
                  <a:gd name="csX1" fmla="*/ 52771 w 1154464"/>
                  <a:gd name="csY1" fmla="*/ 0 h 527712"/>
                  <a:gd name="csX2" fmla="*/ 1101693 w 1154464"/>
                  <a:gd name="csY2" fmla="*/ 0 h 527712"/>
                  <a:gd name="csX3" fmla="*/ 1154464 w 1154464"/>
                  <a:gd name="csY3" fmla="*/ 52771 h 527712"/>
                  <a:gd name="csX4" fmla="*/ 1154464 w 1154464"/>
                  <a:gd name="csY4" fmla="*/ 474941 h 527712"/>
                  <a:gd name="csX5" fmla="*/ 1101693 w 1154464"/>
                  <a:gd name="csY5" fmla="*/ 527712 h 527712"/>
                  <a:gd name="csX6" fmla="*/ 52771 w 1154464"/>
                  <a:gd name="csY6" fmla="*/ 527712 h 527712"/>
                  <a:gd name="csX7" fmla="*/ 0 w 1154464"/>
                  <a:gd name="csY7" fmla="*/ 474941 h 527712"/>
                  <a:gd name="csX8" fmla="*/ 0 w 1154464"/>
                  <a:gd name="csY8" fmla="*/ 52771 h 52771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154464" h="527712">
                    <a:moveTo>
                      <a:pt x="0" y="52771"/>
                    </a:moveTo>
                    <a:cubicBezTo>
                      <a:pt x="0" y="23626"/>
                      <a:pt x="23626" y="0"/>
                      <a:pt x="52771" y="0"/>
                    </a:cubicBezTo>
                    <a:lnTo>
                      <a:pt x="1101693" y="0"/>
                    </a:lnTo>
                    <a:cubicBezTo>
                      <a:pt x="1130838" y="0"/>
                      <a:pt x="1154464" y="23626"/>
                      <a:pt x="1154464" y="52771"/>
                    </a:cubicBezTo>
                    <a:lnTo>
                      <a:pt x="1154464" y="474941"/>
                    </a:lnTo>
                    <a:cubicBezTo>
                      <a:pt x="1154464" y="504086"/>
                      <a:pt x="1130838" y="527712"/>
                      <a:pt x="1101693" y="527712"/>
                    </a:cubicBezTo>
                    <a:lnTo>
                      <a:pt x="52771" y="527712"/>
                    </a:lnTo>
                    <a:cubicBezTo>
                      <a:pt x="23626" y="527712"/>
                      <a:pt x="0" y="504086"/>
                      <a:pt x="0" y="474941"/>
                    </a:cubicBezTo>
                    <a:lnTo>
                      <a:pt x="0" y="52771"/>
                    </a:lnTo>
                    <a:close/>
                  </a:path>
                </a:pathLst>
              </a:custGeom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3688" tIns="93688" rIns="93688" bIns="93688" numCol="1" spcCol="1270" anchor="ctr" anchorCtr="0">
                <a:noAutofit/>
              </a:bodyPr>
              <a:lstStyle/>
              <a:p>
                <a:pPr marL="0" lvl="0" indent="0" algn="ctr" defTabSz="4889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100" kern="1200"/>
                  <a:t>CUBS - Posted</a:t>
                </a:r>
                <a:endParaRPr lang="en-US" sz="1100" kern="1200" dirty="0"/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9427E07-C244-AAEE-DECD-1210FCE8C95D}"/>
                </a:ext>
              </a:extLst>
            </p:cNvPr>
            <p:cNvSpPr txBox="1"/>
            <p:nvPr/>
          </p:nvSpPr>
          <p:spPr>
            <a:xfrm>
              <a:off x="10513996" y="4036060"/>
              <a:ext cx="914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u="sng" dirty="0">
                  <a:solidFill>
                    <a:srgbClr val="C00000"/>
                  </a:solidFill>
                </a:rPr>
                <a:t>3</a:t>
              </a:r>
            </a:p>
          </p:txBody>
        </p:sp>
      </p:grpSp>
      <p:sp>
        <p:nvSpPr>
          <p:cNvPr id="38" name="Title 1">
            <a:extLst>
              <a:ext uri="{FF2B5EF4-FFF2-40B4-BE49-F238E27FC236}">
                <a16:creationId xmlns:a16="http://schemas.microsoft.com/office/drawing/2014/main" id="{7B085B42-06EB-B9E1-FEBA-5B59C0452288}"/>
              </a:ext>
            </a:extLst>
          </p:cNvPr>
          <p:cNvSpPr txBox="1">
            <a:spLocks/>
          </p:cNvSpPr>
          <p:nvPr/>
        </p:nvSpPr>
        <p:spPr>
          <a:xfrm>
            <a:off x="838200" y="1412200"/>
            <a:ext cx="10515600" cy="430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837 </a:t>
            </a:r>
            <a:r>
              <a:rPr lang="en-US" dirty="0">
                <a:sym typeface="Wingdings" panose="05000000000000000000" pitchFamily="2" charset="2"/>
              </a:rPr>
              <a:t> 277  835  CUBS</a:t>
            </a:r>
            <a:endParaRPr lang="en-US" dirty="0"/>
          </a:p>
        </p:txBody>
      </p:sp>
      <p:sp>
        <p:nvSpPr>
          <p:cNvPr id="46" name="Callout: Line 45">
            <a:extLst>
              <a:ext uri="{FF2B5EF4-FFF2-40B4-BE49-F238E27FC236}">
                <a16:creationId xmlns:a16="http://schemas.microsoft.com/office/drawing/2014/main" id="{0CEBB471-03DA-E018-554F-8B5B433485AB}"/>
              </a:ext>
            </a:extLst>
          </p:cNvPr>
          <p:cNvSpPr/>
          <p:nvPr/>
        </p:nvSpPr>
        <p:spPr>
          <a:xfrm>
            <a:off x="6973107" y="985420"/>
            <a:ext cx="1860175" cy="1910823"/>
          </a:xfrm>
          <a:prstGeom prst="borderCallout1">
            <a:avLst>
              <a:gd name="adj1" fmla="val 47321"/>
              <a:gd name="adj2" fmla="val -1147"/>
              <a:gd name="adj3" fmla="val 107921"/>
              <a:gd name="adj4" fmla="val -32129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i="1" dirty="0">
                <a:solidFill>
                  <a:schemeClr val="tx1"/>
                </a:solidFill>
              </a:rPr>
              <a:t>DD has not yet (12/29) automated 835 file response.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i="1" dirty="0">
                <a:solidFill>
                  <a:schemeClr val="tx1"/>
                </a:solidFill>
              </a:rPr>
              <a:t>What prevents remit after an accepted 277?</a:t>
            </a:r>
          </a:p>
        </p:txBody>
      </p:sp>
      <p:sp>
        <p:nvSpPr>
          <p:cNvPr id="48" name="Callout: Line 47">
            <a:extLst>
              <a:ext uri="{FF2B5EF4-FFF2-40B4-BE49-F238E27FC236}">
                <a16:creationId xmlns:a16="http://schemas.microsoft.com/office/drawing/2014/main" id="{0DEAF771-EECD-1699-DC24-A81FAE5CAB8C}"/>
              </a:ext>
            </a:extLst>
          </p:cNvPr>
          <p:cNvSpPr/>
          <p:nvPr/>
        </p:nvSpPr>
        <p:spPr>
          <a:xfrm>
            <a:off x="5280459" y="4764980"/>
            <a:ext cx="1860175" cy="1498217"/>
          </a:xfrm>
          <a:prstGeom prst="borderCallout1">
            <a:avLst>
              <a:gd name="adj1" fmla="val 50235"/>
              <a:gd name="adj2" fmla="val 100507"/>
              <a:gd name="adj3" fmla="val 11767"/>
              <a:gd name="adj4" fmla="val 177383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>
                <a:solidFill>
                  <a:schemeClr val="tx1"/>
                </a:solidFill>
              </a:rPr>
              <a:t>Many have status = 1 for accept (rather than 4 for reject). Why $0 payment then?</a:t>
            </a:r>
          </a:p>
        </p:txBody>
      </p:sp>
      <p:sp>
        <p:nvSpPr>
          <p:cNvPr id="49" name="Callout: Line 48">
            <a:extLst>
              <a:ext uri="{FF2B5EF4-FFF2-40B4-BE49-F238E27FC236}">
                <a16:creationId xmlns:a16="http://schemas.microsoft.com/office/drawing/2014/main" id="{73CE0864-2271-1069-01DE-F869DC27146E}"/>
              </a:ext>
            </a:extLst>
          </p:cNvPr>
          <p:cNvSpPr/>
          <p:nvPr/>
        </p:nvSpPr>
        <p:spPr>
          <a:xfrm>
            <a:off x="9316563" y="2117467"/>
            <a:ext cx="1860175" cy="1254917"/>
          </a:xfrm>
          <a:prstGeom prst="borderCallout1">
            <a:avLst>
              <a:gd name="adj1" fmla="val 100185"/>
              <a:gd name="adj2" fmla="val 48964"/>
              <a:gd name="adj3" fmla="val 129566"/>
              <a:gd name="adj4" fmla="val 80502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i="1" dirty="0">
                <a:solidFill>
                  <a:schemeClr val="tx1"/>
                </a:solidFill>
              </a:rPr>
              <a:t>What file process informs CUBS of insurance payment?</a:t>
            </a:r>
          </a:p>
        </p:txBody>
      </p:sp>
    </p:spTree>
    <p:extLst>
      <p:ext uri="{BB962C8B-B14F-4D97-AF65-F5344CB8AC3E}">
        <p14:creationId xmlns:p14="http://schemas.microsoft.com/office/powerpoint/2010/main" val="282808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1359</TotalTime>
  <Words>176</Words>
  <Application>Microsoft Office PowerPoint</Application>
  <PresentationFormat>Widescreen</PresentationFormat>
  <Paragraphs>29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Wingdings</vt:lpstr>
      <vt:lpstr>Office Theme</vt:lpstr>
      <vt:lpstr>PowerPoint Presentation</vt:lpstr>
      <vt:lpstr>Funnel Overview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Chang</dc:creator>
  <cp:lastModifiedBy>Jason Chang</cp:lastModifiedBy>
  <cp:revision>11</cp:revision>
  <dcterms:created xsi:type="dcterms:W3CDTF">2025-12-29T15:37:37Z</dcterms:created>
  <dcterms:modified xsi:type="dcterms:W3CDTF">2025-12-30T14:16:51Z</dcterms:modified>
</cp:coreProperties>
</file>